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53" autoAdjust="0"/>
    <p:restoredTop sz="94660"/>
  </p:normalViewPr>
  <p:slideViewPr>
    <p:cSldViewPr snapToGrid="0">
      <p:cViewPr varScale="1">
        <p:scale>
          <a:sx n="78" d="100"/>
          <a:sy n="78" d="100"/>
        </p:scale>
        <p:origin x="38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1D227D51-204B-ED48-AF9A-0BE9633FE04A}"/>
              </a:ext>
            </a:extLst>
          </p:cNvPr>
          <p:cNvSpPr/>
          <p:nvPr/>
        </p:nvSpPr>
        <p:spPr>
          <a:xfrm>
            <a:off x="5224243" y="1096772"/>
            <a:ext cx="6503180"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ross 49">
            <a:extLst>
              <a:ext uri="{FF2B5EF4-FFF2-40B4-BE49-F238E27FC236}">
                <a16:creationId xmlns:a16="http://schemas.microsoft.com/office/drawing/2014/main" id="{57A23F45-CDAE-8A40-8DE7-92A0BBC119B7}"/>
              </a:ext>
            </a:extLst>
          </p:cNvPr>
          <p:cNvSpPr/>
          <p:nvPr/>
        </p:nvSpPr>
        <p:spPr>
          <a:xfrm>
            <a:off x="5016811" y="5624450"/>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8546383-CCC4-544B-B0D8-DE78DE39BB78}"/>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5D1728-714F-2942-A0D1-82FF9419B496}"/>
              </a:ext>
            </a:extLst>
          </p:cNvPr>
          <p:cNvSpPr>
            <a:spLocks noGrp="1"/>
          </p:cNvSpPr>
          <p:nvPr>
            <p:ph type="ctrTitle"/>
          </p:nvPr>
        </p:nvSpPr>
        <p:spPr>
          <a:xfrm>
            <a:off x="797106" y="1625608"/>
            <a:ext cx="8035342" cy="2722164"/>
          </a:xfrm>
        </p:spPr>
        <p:txBody>
          <a:bodyPr anchor="b"/>
          <a:lstStyle>
            <a:lvl1pPr algn="l">
              <a:defRPr sz="8000" spc="-150"/>
            </a:lvl1pPr>
          </a:lstStyle>
          <a:p>
            <a:r>
              <a:rPr lang="en-US"/>
              <a:t>Click to edit Master title style</a:t>
            </a:r>
          </a:p>
        </p:txBody>
      </p:sp>
      <p:sp>
        <p:nvSpPr>
          <p:cNvPr id="3" name="Subtitle 2">
            <a:extLst>
              <a:ext uri="{FF2B5EF4-FFF2-40B4-BE49-F238E27FC236}">
                <a16:creationId xmlns:a16="http://schemas.microsoft.com/office/drawing/2014/main" id="{5BD072D4-1496-3347-BBF8-5879DF263BBD}"/>
              </a:ext>
            </a:extLst>
          </p:cNvPr>
          <p:cNvSpPr>
            <a:spLocks noGrp="1"/>
          </p:cNvSpPr>
          <p:nvPr>
            <p:ph type="subTitle" idx="1"/>
          </p:nvPr>
        </p:nvSpPr>
        <p:spPr>
          <a:xfrm>
            <a:off x="797106" y="4466845"/>
            <a:ext cx="8035342" cy="88290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EFC724-B499-364B-AEB5-B6517F6AD52B}"/>
              </a:ext>
            </a:extLst>
          </p:cNvPr>
          <p:cNvSpPr>
            <a:spLocks noGrp="1"/>
          </p:cNvSpPr>
          <p:nvPr>
            <p:ph type="dt" sz="half" idx="10"/>
          </p:nvPr>
        </p:nvSpPr>
        <p:spPr>
          <a:xfrm>
            <a:off x="797105" y="5708747"/>
            <a:ext cx="3882843" cy="365125"/>
          </a:xfrm>
        </p:spPr>
        <p:txBody>
          <a:bodyPr/>
          <a:lstStyle>
            <a:lvl1pPr>
              <a:defRPr sz="1400"/>
            </a:lvl1pPr>
          </a:lstStyle>
          <a:p>
            <a:fld id="{73C3BD54-29B9-3D42-B178-776ED395AA85}" type="datetimeFigureOut">
              <a:rPr lang="en-US" smtClean="0"/>
              <a:pPr/>
              <a:t>1/30/2025</a:t>
            </a:fld>
            <a:endParaRPr lang="en-US" sz="1400"/>
          </a:p>
        </p:txBody>
      </p:sp>
      <p:sp>
        <p:nvSpPr>
          <p:cNvPr id="5" name="Footer Placeholder 4">
            <a:extLst>
              <a:ext uri="{FF2B5EF4-FFF2-40B4-BE49-F238E27FC236}">
                <a16:creationId xmlns:a16="http://schemas.microsoft.com/office/drawing/2014/main" id="{8033889C-A4E9-B24E-818F-46A1124C5D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40F50F-250E-6D45-AEBC-2573FED0C310}"/>
              </a:ext>
            </a:extLst>
          </p:cNvPr>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4062847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9F291BE0-7A7E-D04F-974F-9F4577FB2F46}"/>
              </a:ext>
            </a:extLst>
          </p:cNvPr>
          <p:cNvSpPr/>
          <p:nvPr/>
        </p:nvSpPr>
        <p:spPr>
          <a:xfrm>
            <a:off x="6163735" y="1096772"/>
            <a:ext cx="5571066"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ross 49">
            <a:extLst>
              <a:ext uri="{FF2B5EF4-FFF2-40B4-BE49-F238E27FC236}">
                <a16:creationId xmlns:a16="http://schemas.microsoft.com/office/drawing/2014/main" id="{BD33FF1F-6094-0B4A-A3E4-6B0D9283DB44}"/>
              </a:ext>
            </a:extLst>
          </p:cNvPr>
          <p:cNvSpPr/>
          <p:nvPr/>
        </p:nvSpPr>
        <p:spPr>
          <a:xfrm>
            <a:off x="11529484"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B78A6D9C-C7A5-414B-8CB7-E31470D7D280}"/>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1D850E-6310-C04D-8CAC-B7FA9F332D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5B7FB3-5DFC-6547-9567-C0ABE874C6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27D2DB-A7B1-204E-8416-E938952BCC83}"/>
              </a:ext>
            </a:extLst>
          </p:cNvPr>
          <p:cNvSpPr>
            <a:spLocks noGrp="1"/>
          </p:cNvSpPr>
          <p:nvPr>
            <p:ph type="dt" sz="half" idx="10"/>
          </p:nvPr>
        </p:nvSpPr>
        <p:spPr/>
        <p:txBody>
          <a:bodyPr/>
          <a:lstStyle/>
          <a:p>
            <a:fld id="{73C3BD54-29B9-3D42-B178-776ED395AA85}" type="datetimeFigureOut">
              <a:rPr lang="en-US" smtClean="0"/>
              <a:t>1/30/2025</a:t>
            </a:fld>
            <a:endParaRPr lang="en-US"/>
          </a:p>
        </p:txBody>
      </p:sp>
      <p:sp>
        <p:nvSpPr>
          <p:cNvPr id="5" name="Footer Placeholder 4">
            <a:extLst>
              <a:ext uri="{FF2B5EF4-FFF2-40B4-BE49-F238E27FC236}">
                <a16:creationId xmlns:a16="http://schemas.microsoft.com/office/drawing/2014/main" id="{FD324BA1-E2D0-1E4B-9DB3-664FE27337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AE64B2-36E4-5A4E-A78A-A629829A334F}"/>
              </a:ext>
            </a:extLst>
          </p:cNvPr>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3515862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C97F6C6D-13AE-FD40-841C-4AB96460C390}"/>
              </a:ext>
            </a:extLst>
          </p:cNvPr>
          <p:cNvSpPr/>
          <p:nvPr/>
        </p:nvSpPr>
        <p:spPr>
          <a:xfrm>
            <a:off x="4291015" y="1096772"/>
            <a:ext cx="7436404"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ross 49">
            <a:extLst>
              <a:ext uri="{FF2B5EF4-FFF2-40B4-BE49-F238E27FC236}">
                <a16:creationId xmlns:a16="http://schemas.microsoft.com/office/drawing/2014/main" id="{24E27617-2112-2342-9FF1-39F2A241CCCC}"/>
              </a:ext>
            </a:extLst>
          </p:cNvPr>
          <p:cNvSpPr/>
          <p:nvPr/>
        </p:nvSpPr>
        <p:spPr>
          <a:xfrm>
            <a:off x="4086371" y="5624450"/>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C33CE582-7AFE-D048-B5BC-212A12A28F25}"/>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9EAEF4-E84F-CF40-B27B-01E1D2AFC96D}"/>
              </a:ext>
            </a:extLst>
          </p:cNvPr>
          <p:cNvSpPr>
            <a:spLocks noGrp="1"/>
          </p:cNvSpPr>
          <p:nvPr>
            <p:ph type="title"/>
          </p:nvPr>
        </p:nvSpPr>
        <p:spPr>
          <a:xfrm>
            <a:off x="565150" y="1881951"/>
            <a:ext cx="7335836" cy="1987707"/>
          </a:xfrm>
        </p:spPr>
        <p:txBody>
          <a:bodyPr anchor="b"/>
          <a:lstStyle>
            <a:lvl1pPr>
              <a:defRPr sz="6000" spc="-150"/>
            </a:lvl1pPr>
          </a:lstStyle>
          <a:p>
            <a:r>
              <a:rPr lang="en-US" dirty="0"/>
              <a:t>Click to edit Master title style</a:t>
            </a:r>
          </a:p>
        </p:txBody>
      </p:sp>
      <p:sp>
        <p:nvSpPr>
          <p:cNvPr id="3" name="Text Placeholder 2">
            <a:extLst>
              <a:ext uri="{FF2B5EF4-FFF2-40B4-BE49-F238E27FC236}">
                <a16:creationId xmlns:a16="http://schemas.microsoft.com/office/drawing/2014/main" id="{5287B7E1-CC48-2441-975D-F1A5412B8A49}"/>
              </a:ext>
            </a:extLst>
          </p:cNvPr>
          <p:cNvSpPr>
            <a:spLocks noGrp="1"/>
          </p:cNvSpPr>
          <p:nvPr>
            <p:ph type="body" idx="1"/>
          </p:nvPr>
        </p:nvSpPr>
        <p:spPr>
          <a:xfrm>
            <a:off x="565149" y="3869661"/>
            <a:ext cx="7335836" cy="948465"/>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526218-1FCF-7A4D-B138-D1B1DE91A4B7}"/>
              </a:ext>
            </a:extLst>
          </p:cNvPr>
          <p:cNvSpPr>
            <a:spLocks noGrp="1"/>
          </p:cNvSpPr>
          <p:nvPr>
            <p:ph type="dt" sz="half" idx="10"/>
          </p:nvPr>
        </p:nvSpPr>
        <p:spPr/>
        <p:txBody>
          <a:bodyPr/>
          <a:lstStyle/>
          <a:p>
            <a:fld id="{73C3BD54-29B9-3D42-B178-776ED395AA85}" type="datetimeFigureOut">
              <a:rPr lang="en-US" smtClean="0"/>
              <a:t>1/30/2025</a:t>
            </a:fld>
            <a:endParaRPr lang="en-US"/>
          </a:p>
        </p:txBody>
      </p:sp>
      <p:sp>
        <p:nvSpPr>
          <p:cNvPr id="5" name="Footer Placeholder 4">
            <a:extLst>
              <a:ext uri="{FF2B5EF4-FFF2-40B4-BE49-F238E27FC236}">
                <a16:creationId xmlns:a16="http://schemas.microsoft.com/office/drawing/2014/main" id="{50984204-038C-FD4B-8E1C-0A9967BF22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359AB9-E1C6-C841-B423-FD2BB13C333F}"/>
              </a:ext>
            </a:extLst>
          </p:cNvPr>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2659765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057A-C120-5E4E-BB74-223EB6D005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9EB7BE-6258-C84C-8242-9865D1361C9E}"/>
              </a:ext>
            </a:extLst>
          </p:cNvPr>
          <p:cNvSpPr>
            <a:spLocks noGrp="1"/>
          </p:cNvSpPr>
          <p:nvPr>
            <p:ph sz="half" idx="1"/>
          </p:nvPr>
        </p:nvSpPr>
        <p:spPr>
          <a:xfrm>
            <a:off x="565111" y="2691637"/>
            <a:ext cx="4946643" cy="31897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3D23CD-80DB-5740-AE68-76414CA31A26}"/>
              </a:ext>
            </a:extLst>
          </p:cNvPr>
          <p:cNvSpPr>
            <a:spLocks noGrp="1"/>
          </p:cNvSpPr>
          <p:nvPr>
            <p:ph sz="half" idx="2"/>
          </p:nvPr>
        </p:nvSpPr>
        <p:spPr>
          <a:xfrm>
            <a:off x="6076903" y="2691637"/>
            <a:ext cx="4946639" cy="31897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FE0921-9102-1440-B315-778888723C9D}"/>
              </a:ext>
            </a:extLst>
          </p:cNvPr>
          <p:cNvSpPr>
            <a:spLocks noGrp="1"/>
          </p:cNvSpPr>
          <p:nvPr>
            <p:ph type="dt" sz="half" idx="10"/>
          </p:nvPr>
        </p:nvSpPr>
        <p:spPr/>
        <p:txBody>
          <a:bodyPr/>
          <a:lstStyle/>
          <a:p>
            <a:fld id="{73C3BD54-29B9-3D42-B178-776ED395AA85}" type="datetimeFigureOut">
              <a:rPr lang="en-US" smtClean="0"/>
              <a:t>1/30/2025</a:t>
            </a:fld>
            <a:endParaRPr lang="en-US"/>
          </a:p>
        </p:txBody>
      </p:sp>
      <p:sp>
        <p:nvSpPr>
          <p:cNvPr id="6" name="Footer Placeholder 5">
            <a:extLst>
              <a:ext uri="{FF2B5EF4-FFF2-40B4-BE49-F238E27FC236}">
                <a16:creationId xmlns:a16="http://schemas.microsoft.com/office/drawing/2014/main" id="{24D7802F-1937-2F43-8FF4-846135D6FC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609C72-E794-4F4F-8E09-D4883EED7237}"/>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0" name="Rectangle 49">
            <a:extLst>
              <a:ext uri="{FF2B5EF4-FFF2-40B4-BE49-F238E27FC236}">
                <a16:creationId xmlns:a16="http://schemas.microsoft.com/office/drawing/2014/main" id="{FFEFA3E2-0F30-664C-AAE4-DE6526B5C716}"/>
              </a:ext>
            </a:extLst>
          </p:cNvPr>
          <p:cNvSpPr/>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55" name="Rectangle 54">
            <a:extLst>
              <a:ext uri="{FF2B5EF4-FFF2-40B4-BE49-F238E27FC236}">
                <a16:creationId xmlns:a16="http://schemas.microsoft.com/office/drawing/2014/main" id="{0C3D7AFF-BC7E-BA41-9C64-B5F9619C0EA1}"/>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ross 10">
            <a:extLst>
              <a:ext uri="{FF2B5EF4-FFF2-40B4-BE49-F238E27FC236}">
                <a16:creationId xmlns:a16="http://schemas.microsoft.com/office/drawing/2014/main" id="{671D2311-E9B8-F041-A7B8-D5696903F22A}"/>
              </a:ext>
            </a:extLst>
          </p:cNvPr>
          <p:cNvSpPr/>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3934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9CA91-F119-0244-888A-95539A84DD6F}"/>
              </a:ext>
            </a:extLst>
          </p:cNvPr>
          <p:cNvSpPr>
            <a:spLocks noGrp="1"/>
          </p:cNvSpPr>
          <p:nvPr>
            <p:ph type="title"/>
          </p:nvPr>
        </p:nvSpPr>
        <p:spPr>
          <a:xfrm>
            <a:off x="565110" y="1204721"/>
            <a:ext cx="8266175" cy="14447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8A3EAC-4422-D548-8D7F-E9944566FBA9}"/>
              </a:ext>
            </a:extLst>
          </p:cNvPr>
          <p:cNvSpPr>
            <a:spLocks noGrp="1"/>
          </p:cNvSpPr>
          <p:nvPr>
            <p:ph type="body" idx="1"/>
          </p:nvPr>
        </p:nvSpPr>
        <p:spPr>
          <a:xfrm>
            <a:off x="565111" y="2691638"/>
            <a:ext cx="4946644" cy="823912"/>
          </a:xfrm>
        </p:spPr>
        <p:txBody>
          <a:bodyPr anchor="b"/>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9140CA2-88A9-CC42-A375-8B87E47CC5F9}"/>
              </a:ext>
            </a:extLst>
          </p:cNvPr>
          <p:cNvSpPr>
            <a:spLocks noGrp="1"/>
          </p:cNvSpPr>
          <p:nvPr>
            <p:ph sz="half" idx="2"/>
          </p:nvPr>
        </p:nvSpPr>
        <p:spPr>
          <a:xfrm>
            <a:off x="565111" y="3515550"/>
            <a:ext cx="4946644" cy="2366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5F960C-714E-2E4A-8141-A88F38274E48}"/>
              </a:ext>
            </a:extLst>
          </p:cNvPr>
          <p:cNvSpPr>
            <a:spLocks noGrp="1"/>
          </p:cNvSpPr>
          <p:nvPr>
            <p:ph type="body" sz="quarter" idx="3"/>
          </p:nvPr>
        </p:nvSpPr>
        <p:spPr>
          <a:xfrm>
            <a:off x="6076866" y="2691162"/>
            <a:ext cx="4946644" cy="823912"/>
          </a:xfrm>
        </p:spPr>
        <p:txBody>
          <a:bodyPr anchor="b"/>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97BC24-C907-EC4B-872D-17429A657716}"/>
              </a:ext>
            </a:extLst>
          </p:cNvPr>
          <p:cNvSpPr>
            <a:spLocks noGrp="1"/>
          </p:cNvSpPr>
          <p:nvPr>
            <p:ph sz="quarter" idx="4"/>
          </p:nvPr>
        </p:nvSpPr>
        <p:spPr>
          <a:xfrm>
            <a:off x="6076866" y="3515074"/>
            <a:ext cx="4946644" cy="2366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E2A045-4283-3C47-B125-68CF3B19FB08}"/>
              </a:ext>
            </a:extLst>
          </p:cNvPr>
          <p:cNvSpPr>
            <a:spLocks noGrp="1"/>
          </p:cNvSpPr>
          <p:nvPr>
            <p:ph type="dt" sz="half" idx="10"/>
          </p:nvPr>
        </p:nvSpPr>
        <p:spPr/>
        <p:txBody>
          <a:bodyPr/>
          <a:lstStyle/>
          <a:p>
            <a:fld id="{73C3BD54-29B9-3D42-B178-776ED395AA85}" type="datetimeFigureOut">
              <a:rPr lang="en-US" smtClean="0"/>
              <a:t>1/30/2025</a:t>
            </a:fld>
            <a:endParaRPr lang="en-US"/>
          </a:p>
        </p:txBody>
      </p:sp>
      <p:sp>
        <p:nvSpPr>
          <p:cNvPr id="8" name="Footer Placeholder 7">
            <a:extLst>
              <a:ext uri="{FF2B5EF4-FFF2-40B4-BE49-F238E27FC236}">
                <a16:creationId xmlns:a16="http://schemas.microsoft.com/office/drawing/2014/main" id="{7EBC25BC-2C98-574D-BCCD-E36CAB07F2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A5C95A-7789-E042-8471-D442D9BB545F}"/>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2" name="Rectangle 51">
            <a:extLst>
              <a:ext uri="{FF2B5EF4-FFF2-40B4-BE49-F238E27FC236}">
                <a16:creationId xmlns:a16="http://schemas.microsoft.com/office/drawing/2014/main" id="{3DF1BA5B-EDD8-B648-8A3E-E2B3570B1EA0}"/>
              </a:ext>
            </a:extLst>
          </p:cNvPr>
          <p:cNvSpPr/>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57" name="Rectangle 56">
            <a:extLst>
              <a:ext uri="{FF2B5EF4-FFF2-40B4-BE49-F238E27FC236}">
                <a16:creationId xmlns:a16="http://schemas.microsoft.com/office/drawing/2014/main" id="{D7476360-629C-DE48-85B7-F4BE6CC457DB}"/>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ross 13">
            <a:extLst>
              <a:ext uri="{FF2B5EF4-FFF2-40B4-BE49-F238E27FC236}">
                <a16:creationId xmlns:a16="http://schemas.microsoft.com/office/drawing/2014/main" id="{C5F6C588-FC1B-3147-AFA1-CD7D76C5AEAC}"/>
              </a:ext>
            </a:extLst>
          </p:cNvPr>
          <p:cNvSpPr/>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5289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15401-5318-7045-8AE3-B1A99F2D82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E2F55F-EB76-AE49-B554-12B65B636A90}"/>
              </a:ext>
            </a:extLst>
          </p:cNvPr>
          <p:cNvSpPr>
            <a:spLocks noGrp="1"/>
          </p:cNvSpPr>
          <p:nvPr>
            <p:ph type="dt" sz="half" idx="10"/>
          </p:nvPr>
        </p:nvSpPr>
        <p:spPr/>
        <p:txBody>
          <a:bodyPr/>
          <a:lstStyle/>
          <a:p>
            <a:fld id="{73C3BD54-29B9-3D42-B178-776ED395AA85}" type="datetimeFigureOut">
              <a:rPr lang="en-US" smtClean="0"/>
              <a:t>1/30/2025</a:t>
            </a:fld>
            <a:endParaRPr lang="en-US"/>
          </a:p>
        </p:txBody>
      </p:sp>
      <p:sp>
        <p:nvSpPr>
          <p:cNvPr id="4" name="Footer Placeholder 3">
            <a:extLst>
              <a:ext uri="{FF2B5EF4-FFF2-40B4-BE49-F238E27FC236}">
                <a16:creationId xmlns:a16="http://schemas.microsoft.com/office/drawing/2014/main" id="{86CB6E6E-D81E-C44A-AC54-CBE0134C10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E025B9-9F46-3049-9977-0119B96D393C}"/>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48" name="Rectangle 47">
            <a:extLst>
              <a:ext uri="{FF2B5EF4-FFF2-40B4-BE49-F238E27FC236}">
                <a16:creationId xmlns:a16="http://schemas.microsoft.com/office/drawing/2014/main" id="{65760068-EADA-2B4B-9819-CF981184FAEB}"/>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81DA7622-137E-184A-A93C-8DBB10318AE6}"/>
              </a:ext>
            </a:extLst>
          </p:cNvPr>
          <p:cNvSpPr/>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9" name="Cross 8">
            <a:extLst>
              <a:ext uri="{FF2B5EF4-FFF2-40B4-BE49-F238E27FC236}">
                <a16:creationId xmlns:a16="http://schemas.microsoft.com/office/drawing/2014/main" id="{54FB0990-6F8D-B048-8309-19B0D1A41033}"/>
              </a:ext>
            </a:extLst>
          </p:cNvPr>
          <p:cNvSpPr/>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0282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AF81DD-2B1F-3444-8023-DD52318FE9F6}"/>
              </a:ext>
            </a:extLst>
          </p:cNvPr>
          <p:cNvSpPr>
            <a:spLocks noGrp="1"/>
          </p:cNvSpPr>
          <p:nvPr>
            <p:ph type="dt" sz="half" idx="10"/>
          </p:nvPr>
        </p:nvSpPr>
        <p:spPr/>
        <p:txBody>
          <a:bodyPr/>
          <a:lstStyle/>
          <a:p>
            <a:fld id="{73C3BD54-29B9-3D42-B178-776ED395AA85}" type="datetimeFigureOut">
              <a:rPr lang="en-US" smtClean="0"/>
              <a:t>1/30/2025</a:t>
            </a:fld>
            <a:endParaRPr lang="en-US"/>
          </a:p>
        </p:txBody>
      </p:sp>
      <p:sp>
        <p:nvSpPr>
          <p:cNvPr id="3" name="Footer Placeholder 2">
            <a:extLst>
              <a:ext uri="{FF2B5EF4-FFF2-40B4-BE49-F238E27FC236}">
                <a16:creationId xmlns:a16="http://schemas.microsoft.com/office/drawing/2014/main" id="{36927EE3-DAA3-D948-B8FD-48417540B5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4532D4-FFBF-6C47-A6C9-D55196D91B87}"/>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47" name="Rectangle 46">
            <a:extLst>
              <a:ext uri="{FF2B5EF4-FFF2-40B4-BE49-F238E27FC236}">
                <a16:creationId xmlns:a16="http://schemas.microsoft.com/office/drawing/2014/main" id="{DB8D5541-7726-BA46-8BFA-BF6AA8D42BD7}"/>
              </a:ext>
            </a:extLst>
          </p:cNvPr>
          <p:cNvSpPr/>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Cross 47">
            <a:extLst>
              <a:ext uri="{FF2B5EF4-FFF2-40B4-BE49-F238E27FC236}">
                <a16:creationId xmlns:a16="http://schemas.microsoft.com/office/drawing/2014/main" id="{97F434CF-7503-CE4F-8426-C312C6315AD0}"/>
              </a:ext>
            </a:extLst>
          </p:cNvPr>
          <p:cNvSpPr/>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FEDBFB2F-FE34-E349-9484-C275FBE31614}"/>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9920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DCFD-BEE6-AC49-BABD-D8B89C3B69D0}"/>
              </a:ext>
            </a:extLst>
          </p:cNvPr>
          <p:cNvSpPr>
            <a:spLocks noGrp="1"/>
          </p:cNvSpPr>
          <p:nvPr>
            <p:ph type="title"/>
          </p:nvPr>
        </p:nvSpPr>
        <p:spPr>
          <a:xfrm>
            <a:off x="565149" y="1203800"/>
            <a:ext cx="4114800" cy="1077218"/>
          </a:xfrm>
        </p:spPr>
        <p:txBody>
          <a:bodyPr anchor="b">
            <a:normAutofit/>
          </a:bodyPr>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431DE035-8260-4443-B1D9-A9C8D584039E}"/>
              </a:ext>
            </a:extLst>
          </p:cNvPr>
          <p:cNvSpPr>
            <a:spLocks noGrp="1"/>
          </p:cNvSpPr>
          <p:nvPr>
            <p:ph idx="1"/>
          </p:nvPr>
        </p:nvSpPr>
        <p:spPr>
          <a:xfrm>
            <a:off x="5611813" y="1508252"/>
            <a:ext cx="5606518" cy="4045881"/>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CCC1AA53-7507-D04B-9B8E-6A4F7122ECA5}"/>
              </a:ext>
            </a:extLst>
          </p:cNvPr>
          <p:cNvSpPr>
            <a:spLocks noGrp="1"/>
          </p:cNvSpPr>
          <p:nvPr>
            <p:ph type="body" sz="half" idx="2"/>
          </p:nvPr>
        </p:nvSpPr>
        <p:spPr>
          <a:xfrm>
            <a:off x="565149" y="2368295"/>
            <a:ext cx="4114800" cy="31858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56E11F-3003-0745-ACAB-FAA4E676EFCD}"/>
              </a:ext>
            </a:extLst>
          </p:cNvPr>
          <p:cNvSpPr>
            <a:spLocks noGrp="1"/>
          </p:cNvSpPr>
          <p:nvPr>
            <p:ph type="dt" sz="half" idx="10"/>
          </p:nvPr>
        </p:nvSpPr>
        <p:spPr/>
        <p:txBody>
          <a:bodyPr/>
          <a:lstStyle/>
          <a:p>
            <a:fld id="{73C3BD54-29B9-3D42-B178-776ED395AA85}" type="datetimeFigureOut">
              <a:rPr lang="en-US" smtClean="0"/>
              <a:t>1/30/2025</a:t>
            </a:fld>
            <a:endParaRPr lang="en-US"/>
          </a:p>
        </p:txBody>
      </p:sp>
      <p:sp>
        <p:nvSpPr>
          <p:cNvPr id="6" name="Footer Placeholder 5">
            <a:extLst>
              <a:ext uri="{FF2B5EF4-FFF2-40B4-BE49-F238E27FC236}">
                <a16:creationId xmlns:a16="http://schemas.microsoft.com/office/drawing/2014/main" id="{92BC11A6-59AC-FE45-8A1C-9DDC00582A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D6F51E-1A94-034C-BBEE-C26A3AF0E815}"/>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0" name="Rectangle 49">
            <a:extLst>
              <a:ext uri="{FF2B5EF4-FFF2-40B4-BE49-F238E27FC236}">
                <a16:creationId xmlns:a16="http://schemas.microsoft.com/office/drawing/2014/main" id="{50B7D330-76C0-224C-9C3C-27C4D2B0DDB4}"/>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35464D55-5C51-844B-A38A-8143590FB934}"/>
              </a:ext>
            </a:extLst>
          </p:cNvPr>
          <p:cNvSpPr/>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ross 10">
            <a:extLst>
              <a:ext uri="{FF2B5EF4-FFF2-40B4-BE49-F238E27FC236}">
                <a16:creationId xmlns:a16="http://schemas.microsoft.com/office/drawing/2014/main" id="{FD988250-C554-DE44-B887-57D0B2AA8E37}"/>
              </a:ext>
            </a:extLst>
          </p:cNvPr>
          <p:cNvSpPr/>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5837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86C7C-36AD-9A4E-8524-8F44E8839EA8}"/>
              </a:ext>
            </a:extLst>
          </p:cNvPr>
          <p:cNvSpPr>
            <a:spLocks noGrp="1"/>
          </p:cNvSpPr>
          <p:nvPr>
            <p:ph type="title"/>
          </p:nvPr>
        </p:nvSpPr>
        <p:spPr>
          <a:xfrm>
            <a:off x="565149" y="1203800"/>
            <a:ext cx="4114800" cy="1077218"/>
          </a:xfrm>
        </p:spPr>
        <p:txBody>
          <a:bodyPr anchor="b">
            <a:normAutofit/>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015248-4C80-3348-A8A9-6C9F5D32FCE3}"/>
              </a:ext>
            </a:extLst>
          </p:cNvPr>
          <p:cNvSpPr>
            <a:spLocks noGrp="1"/>
          </p:cNvSpPr>
          <p:nvPr>
            <p:ph type="pic" idx="1"/>
          </p:nvPr>
        </p:nvSpPr>
        <p:spPr>
          <a:xfrm>
            <a:off x="5631151" y="1096772"/>
            <a:ext cx="6096270" cy="5761228"/>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B3083-CA16-C54A-B130-7BEE6DF9D815}"/>
              </a:ext>
            </a:extLst>
          </p:cNvPr>
          <p:cNvSpPr>
            <a:spLocks noGrp="1"/>
          </p:cNvSpPr>
          <p:nvPr>
            <p:ph type="body" sz="half" idx="2"/>
          </p:nvPr>
        </p:nvSpPr>
        <p:spPr>
          <a:xfrm>
            <a:off x="565149" y="2370666"/>
            <a:ext cx="4114800" cy="318346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3C6EB5-D7D1-E247-B9D7-D319E5AAB962}"/>
              </a:ext>
            </a:extLst>
          </p:cNvPr>
          <p:cNvSpPr>
            <a:spLocks noGrp="1"/>
          </p:cNvSpPr>
          <p:nvPr>
            <p:ph type="dt" sz="half" idx="10"/>
          </p:nvPr>
        </p:nvSpPr>
        <p:spPr/>
        <p:txBody>
          <a:bodyPr/>
          <a:lstStyle/>
          <a:p>
            <a:fld id="{73C3BD54-29B9-3D42-B178-776ED395AA85}" type="datetimeFigureOut">
              <a:rPr lang="en-US" smtClean="0"/>
              <a:t>1/30/2025</a:t>
            </a:fld>
            <a:endParaRPr lang="en-US"/>
          </a:p>
        </p:txBody>
      </p:sp>
      <p:sp>
        <p:nvSpPr>
          <p:cNvPr id="6" name="Footer Placeholder 5">
            <a:extLst>
              <a:ext uri="{FF2B5EF4-FFF2-40B4-BE49-F238E27FC236}">
                <a16:creationId xmlns:a16="http://schemas.microsoft.com/office/drawing/2014/main" id="{75FBF6CC-F5C4-9847-BADB-8B7441C8F3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63FE4-B2F5-7741-B517-533F1C98CE1B}"/>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4" name="Rectangle 53">
            <a:extLst>
              <a:ext uri="{FF2B5EF4-FFF2-40B4-BE49-F238E27FC236}">
                <a16:creationId xmlns:a16="http://schemas.microsoft.com/office/drawing/2014/main" id="{AB80A771-7D8E-0F4A-93A3-B977667D338E}"/>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2C9320FA-0E3A-2749-9085-DF30FA26F4BD}"/>
              </a:ext>
            </a:extLst>
          </p:cNvPr>
          <p:cNvSpPr/>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ross 10">
            <a:extLst>
              <a:ext uri="{FF2B5EF4-FFF2-40B4-BE49-F238E27FC236}">
                <a16:creationId xmlns:a16="http://schemas.microsoft.com/office/drawing/2014/main" id="{5A3DF5D0-8A2C-A049-9132-EE1EF7D014D4}"/>
              </a:ext>
            </a:extLst>
          </p:cNvPr>
          <p:cNvSpPr/>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7912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9F6C0E12-251D-EA44-BF81-4ABDFBB94321}"/>
              </a:ext>
            </a:extLst>
          </p:cNvPr>
          <p:cNvSpPr/>
          <p:nvPr/>
        </p:nvSpPr>
        <p:spPr>
          <a:xfrm>
            <a:off x="7087169" y="1096772"/>
            <a:ext cx="4652226"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DC5FF4-095A-114E-87B6-73C7ADFF97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1E6EC9-9650-2042-8581-5B4082F941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4A0800-B373-3B40-B187-30AFE44CDD1D}"/>
              </a:ext>
            </a:extLst>
          </p:cNvPr>
          <p:cNvSpPr>
            <a:spLocks noGrp="1"/>
          </p:cNvSpPr>
          <p:nvPr>
            <p:ph type="dt" sz="half" idx="10"/>
          </p:nvPr>
        </p:nvSpPr>
        <p:spPr/>
        <p:txBody>
          <a:bodyPr/>
          <a:lstStyle/>
          <a:p>
            <a:fld id="{73C3BD54-29B9-3D42-B178-776ED395AA85}" type="datetimeFigureOut">
              <a:rPr lang="en-US" smtClean="0"/>
              <a:t>1/30/2025</a:t>
            </a:fld>
            <a:endParaRPr lang="en-US"/>
          </a:p>
        </p:txBody>
      </p:sp>
      <p:sp>
        <p:nvSpPr>
          <p:cNvPr id="5" name="Footer Placeholder 4">
            <a:extLst>
              <a:ext uri="{FF2B5EF4-FFF2-40B4-BE49-F238E27FC236}">
                <a16:creationId xmlns:a16="http://schemas.microsoft.com/office/drawing/2014/main" id="{C10A4C1C-C790-B449-8C06-78E8303F94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3E620-F86B-F447-AB06-DDAB39192507}"/>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49" name="Rectangle 48">
            <a:extLst>
              <a:ext uri="{FF2B5EF4-FFF2-40B4-BE49-F238E27FC236}">
                <a16:creationId xmlns:a16="http://schemas.microsoft.com/office/drawing/2014/main" id="{80487CB5-43E0-974C-9DDC-252A8A37107F}"/>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ross 9">
            <a:extLst>
              <a:ext uri="{FF2B5EF4-FFF2-40B4-BE49-F238E27FC236}">
                <a16:creationId xmlns:a16="http://schemas.microsoft.com/office/drawing/2014/main" id="{E9CB83EF-4143-5A45-9B3A-9E70DD50253B}"/>
              </a:ext>
            </a:extLst>
          </p:cNvPr>
          <p:cNvSpPr/>
          <p:nvPr/>
        </p:nvSpPr>
        <p:spPr>
          <a:xfrm>
            <a:off x="11415183"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239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9DF801-FF8E-6247-9065-D9304CD6093A}"/>
              </a:ext>
            </a:extLst>
          </p:cNvPr>
          <p:cNvSpPr>
            <a:spLocks noGrp="1"/>
          </p:cNvSpPr>
          <p:nvPr>
            <p:ph type="title" orient="vert"/>
          </p:nvPr>
        </p:nvSpPr>
        <p:spPr>
          <a:xfrm>
            <a:off x="9355667" y="1204722"/>
            <a:ext cx="1853360" cy="467664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0E2615-7E4D-AB47-ACE6-236D716D7D24}"/>
              </a:ext>
            </a:extLst>
          </p:cNvPr>
          <p:cNvSpPr>
            <a:spLocks noGrp="1"/>
          </p:cNvSpPr>
          <p:nvPr>
            <p:ph type="body" orient="vert" idx="1"/>
          </p:nvPr>
        </p:nvSpPr>
        <p:spPr>
          <a:xfrm>
            <a:off x="973667" y="1204722"/>
            <a:ext cx="8274047" cy="46969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1F0223-5AC9-374E-BD0C-344F67E2A85B}"/>
              </a:ext>
            </a:extLst>
          </p:cNvPr>
          <p:cNvSpPr>
            <a:spLocks noGrp="1"/>
          </p:cNvSpPr>
          <p:nvPr>
            <p:ph type="dt" sz="half" idx="10"/>
          </p:nvPr>
        </p:nvSpPr>
        <p:spPr/>
        <p:txBody>
          <a:bodyPr/>
          <a:lstStyle/>
          <a:p>
            <a:fld id="{73C3BD54-29B9-3D42-B178-776ED395AA85}" type="datetimeFigureOut">
              <a:rPr lang="en-US" smtClean="0"/>
              <a:t>1/30/2025</a:t>
            </a:fld>
            <a:endParaRPr lang="en-US"/>
          </a:p>
        </p:txBody>
      </p:sp>
      <p:sp>
        <p:nvSpPr>
          <p:cNvPr id="5" name="Footer Placeholder 4">
            <a:extLst>
              <a:ext uri="{FF2B5EF4-FFF2-40B4-BE49-F238E27FC236}">
                <a16:creationId xmlns:a16="http://schemas.microsoft.com/office/drawing/2014/main" id="{3EBEDD42-54A1-E648-8829-140EC4C571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8FDF8F-8DBC-8A47-8000-5BA35DF9F903}"/>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1" name="Rectangle 50">
            <a:extLst>
              <a:ext uri="{FF2B5EF4-FFF2-40B4-BE49-F238E27FC236}">
                <a16:creationId xmlns:a16="http://schemas.microsoft.com/office/drawing/2014/main" id="{F2CE2A98-5154-A544-BE2A-FDC0811C19A0}"/>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DC4EC832-8181-5643-8A62-117E43F0E498}"/>
              </a:ext>
            </a:extLst>
          </p:cNvPr>
          <p:cNvSpPr/>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ross 9">
            <a:extLst>
              <a:ext uri="{FF2B5EF4-FFF2-40B4-BE49-F238E27FC236}">
                <a16:creationId xmlns:a16="http://schemas.microsoft.com/office/drawing/2014/main" id="{24AF3281-BC22-374D-A461-8B3181F600AA}"/>
              </a:ext>
            </a:extLst>
          </p:cNvPr>
          <p:cNvSpPr/>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133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952BFD-D607-6845-9C7B-1C8D3B4EE760}"/>
              </a:ext>
            </a:extLst>
          </p:cNvPr>
          <p:cNvSpPr>
            <a:spLocks noGrp="1"/>
          </p:cNvSpPr>
          <p:nvPr>
            <p:ph type="title"/>
          </p:nvPr>
        </p:nvSpPr>
        <p:spPr>
          <a:xfrm>
            <a:off x="565149" y="1204721"/>
            <a:ext cx="8267296" cy="144655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EBB52FF-3B04-8245-BF0B-89C9E293362A}"/>
              </a:ext>
            </a:extLst>
          </p:cNvPr>
          <p:cNvSpPr>
            <a:spLocks noGrp="1"/>
          </p:cNvSpPr>
          <p:nvPr>
            <p:ph type="body" idx="1"/>
          </p:nvPr>
        </p:nvSpPr>
        <p:spPr>
          <a:xfrm>
            <a:off x="565150" y="2691638"/>
            <a:ext cx="8267296" cy="318858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DA99BFE-CBDD-C344-A21E-44A52F11B662}"/>
              </a:ext>
            </a:extLst>
          </p:cNvPr>
          <p:cNvSpPr>
            <a:spLocks noGrp="1"/>
          </p:cNvSpPr>
          <p:nvPr>
            <p:ph type="dt" sz="half" idx="2"/>
          </p:nvPr>
        </p:nvSpPr>
        <p:spPr>
          <a:xfrm>
            <a:off x="565149" y="5949696"/>
            <a:ext cx="4114800" cy="365125"/>
          </a:xfrm>
          <a:prstGeom prst="rect">
            <a:avLst/>
          </a:prstGeom>
        </p:spPr>
        <p:txBody>
          <a:bodyPr vert="horz" lIns="91440" tIns="45720" rIns="91440" bIns="45720" rtlCol="0" anchor="ctr" anchorCtr="0"/>
          <a:lstStyle>
            <a:lvl1pPr algn="l">
              <a:defRPr lang="en-US" sz="1050" smtClean="0">
                <a:latin typeface="+mn-lt"/>
              </a:defRPr>
            </a:lvl1pPr>
          </a:lstStyle>
          <a:p>
            <a:fld id="{73C3BD54-29B9-3D42-B178-776ED395AA85}" type="datetimeFigureOut">
              <a:rPr lang="en-US" smtClean="0"/>
              <a:pPr/>
              <a:t>1/30/2025</a:t>
            </a:fld>
            <a:endParaRPr lang="en-US" dirty="0"/>
          </a:p>
        </p:txBody>
      </p:sp>
      <p:sp>
        <p:nvSpPr>
          <p:cNvPr id="5" name="Footer Placeholder 4">
            <a:extLst>
              <a:ext uri="{FF2B5EF4-FFF2-40B4-BE49-F238E27FC236}">
                <a16:creationId xmlns:a16="http://schemas.microsoft.com/office/drawing/2014/main" id="{BDC371C0-3DCE-0743-946F-C7540DD7895F}"/>
              </a:ext>
            </a:extLst>
          </p:cNvPr>
          <p:cNvSpPr>
            <a:spLocks noGrp="1"/>
          </p:cNvSpPr>
          <p:nvPr>
            <p:ph type="ftr" sz="quarter" idx="3"/>
          </p:nvPr>
        </p:nvSpPr>
        <p:spPr>
          <a:xfrm>
            <a:off x="565150" y="543179"/>
            <a:ext cx="4114800" cy="246888"/>
          </a:xfrm>
          <a:prstGeom prst="rect">
            <a:avLst/>
          </a:prstGeom>
        </p:spPr>
        <p:txBody>
          <a:bodyPr vert="horz" lIns="91440" tIns="45720" rIns="91440" bIns="45720" rtlCol="0" anchor="ctr" anchorCtr="0"/>
          <a:lstStyle>
            <a:lvl1pPr algn="l">
              <a:defRPr lang="en-US" sz="1050">
                <a:latin typeface="+mn-lt"/>
              </a:defRPr>
            </a:lvl1pPr>
          </a:lstStyle>
          <a:p>
            <a:endParaRPr lang="en-US" dirty="0"/>
          </a:p>
        </p:txBody>
      </p:sp>
      <p:sp>
        <p:nvSpPr>
          <p:cNvPr id="6" name="Slide Number Placeholder 5">
            <a:extLst>
              <a:ext uri="{FF2B5EF4-FFF2-40B4-BE49-F238E27FC236}">
                <a16:creationId xmlns:a16="http://schemas.microsoft.com/office/drawing/2014/main" id="{E6E32ADB-4517-194F-8B4B-A9D26B3C02E3}"/>
              </a:ext>
            </a:extLst>
          </p:cNvPr>
          <p:cNvSpPr>
            <a:spLocks noGrp="1"/>
          </p:cNvSpPr>
          <p:nvPr>
            <p:ph type="sldNum" sz="quarter" idx="4"/>
          </p:nvPr>
        </p:nvSpPr>
        <p:spPr>
          <a:xfrm>
            <a:off x="10813024" y="511175"/>
            <a:ext cx="914400" cy="310896"/>
          </a:xfrm>
          <a:prstGeom prst="rect">
            <a:avLst/>
          </a:prstGeom>
        </p:spPr>
        <p:txBody>
          <a:bodyPr vert="horz" lIns="91440" tIns="45720" rIns="91440" bIns="45720" rtlCol="0" anchor="ctr"/>
          <a:lstStyle>
            <a:lvl1pPr algn="r">
              <a:defRPr sz="1400" b="0" i="0">
                <a:solidFill>
                  <a:schemeClr val="tx1"/>
                </a:solidFill>
                <a:latin typeface="+mn-lt"/>
              </a:defRPr>
            </a:lvl1pPr>
          </a:lstStyle>
          <a:p>
            <a:fld id="{86BB3423-611C-6944-BA94-F2572F362413}" type="slidenum">
              <a:rPr lang="en-US" smtClean="0"/>
              <a:pPr/>
              <a:t>‹#›</a:t>
            </a:fld>
            <a:endParaRPr lang="en-US"/>
          </a:p>
        </p:txBody>
      </p:sp>
    </p:spTree>
    <p:extLst>
      <p:ext uri="{BB962C8B-B14F-4D97-AF65-F5344CB8AC3E}">
        <p14:creationId xmlns:p14="http://schemas.microsoft.com/office/powerpoint/2010/main" val="430105650"/>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System Font Regular"/>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System Font Regular"/>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System Font Regular"/>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System Font Regular"/>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System Font Regular"/>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mailto:keneilwechabalala22@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CA2C65D-0168-1245-86C8-62A8A6F7B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63188F-C552-EF30-09BC-73E039EF7983}"/>
              </a:ext>
            </a:extLst>
          </p:cNvPr>
          <p:cNvSpPr>
            <a:spLocks noGrp="1"/>
          </p:cNvSpPr>
          <p:nvPr>
            <p:ph type="ctrTitle"/>
          </p:nvPr>
        </p:nvSpPr>
        <p:spPr>
          <a:xfrm>
            <a:off x="6562614" y="1625608"/>
            <a:ext cx="4655719" cy="1803392"/>
          </a:xfrm>
        </p:spPr>
        <p:txBody>
          <a:bodyPr>
            <a:normAutofit/>
          </a:bodyPr>
          <a:lstStyle/>
          <a:p>
            <a:r>
              <a:rPr lang="en-ZA" sz="2400" dirty="0"/>
              <a:t>Keneilwe Patra Chabalala</a:t>
            </a:r>
            <a:br>
              <a:rPr lang="en-ZA" sz="2400" dirty="0"/>
            </a:br>
            <a:r>
              <a:rPr lang="en-ZA" sz="2400" dirty="0"/>
              <a:t>Software Development Student Intern</a:t>
            </a:r>
            <a:br>
              <a:rPr lang="en-ZA" sz="2400" dirty="0"/>
            </a:br>
            <a:r>
              <a:rPr lang="en-ZA" sz="2400" dirty="0">
                <a:hlinkClick r:id="rId2"/>
              </a:rPr>
              <a:t>keneilwechabalala22@gmail.com</a:t>
            </a:r>
            <a:br>
              <a:rPr lang="en-ZA" sz="2400" dirty="0"/>
            </a:br>
            <a:r>
              <a:rPr lang="en-ZA" sz="2400" dirty="0"/>
              <a:t>0737625198</a:t>
            </a:r>
          </a:p>
        </p:txBody>
      </p:sp>
      <p:sp>
        <p:nvSpPr>
          <p:cNvPr id="3" name="Subtitle 2">
            <a:extLst>
              <a:ext uri="{FF2B5EF4-FFF2-40B4-BE49-F238E27FC236}">
                <a16:creationId xmlns:a16="http://schemas.microsoft.com/office/drawing/2014/main" id="{3293633E-2071-4615-06F3-AA8D7D8CB254}"/>
              </a:ext>
            </a:extLst>
          </p:cNvPr>
          <p:cNvSpPr>
            <a:spLocks noGrp="1"/>
          </p:cNvSpPr>
          <p:nvPr>
            <p:ph type="subTitle" idx="1"/>
          </p:nvPr>
        </p:nvSpPr>
        <p:spPr>
          <a:xfrm>
            <a:off x="6562614" y="4466845"/>
            <a:ext cx="4655719" cy="882904"/>
          </a:xfrm>
        </p:spPr>
        <p:txBody>
          <a:bodyPr>
            <a:normAutofit/>
          </a:bodyPr>
          <a:lstStyle/>
          <a:p>
            <a:r>
              <a:rPr lang="en-ZA" b="1" u="sng" dirty="0"/>
              <a:t>Online Retail Management System Project Proposal</a:t>
            </a:r>
          </a:p>
        </p:txBody>
      </p:sp>
      <p:pic>
        <p:nvPicPr>
          <p:cNvPr id="16" name="Picture 15" descr="Top view of wood desk with the plant, white keyboard, coffee in a white mug, notebook, and pen">
            <a:extLst>
              <a:ext uri="{FF2B5EF4-FFF2-40B4-BE49-F238E27FC236}">
                <a16:creationId xmlns:a16="http://schemas.microsoft.com/office/drawing/2014/main" id="{7475C788-883F-8868-BB8F-722934F33745}"/>
              </a:ext>
            </a:extLst>
          </p:cNvPr>
          <p:cNvPicPr>
            <a:picLocks noChangeAspect="1"/>
          </p:cNvPicPr>
          <p:nvPr/>
        </p:nvPicPr>
        <p:blipFill>
          <a:blip r:embed="rId3"/>
          <a:srcRect l="20043" r="20307" b="-1"/>
          <a:stretch/>
        </p:blipFill>
        <p:spPr>
          <a:xfrm>
            <a:off x="20" y="10"/>
            <a:ext cx="6038037" cy="6857990"/>
          </a:xfrm>
          <a:prstGeom prst="rect">
            <a:avLst/>
          </a:prstGeom>
        </p:spPr>
      </p:pic>
      <p:sp>
        <p:nvSpPr>
          <p:cNvPr id="17" name="Cross 16">
            <a:extLst>
              <a:ext uri="{FF2B5EF4-FFF2-40B4-BE49-F238E27FC236}">
                <a16:creationId xmlns:a16="http://schemas.microsoft.com/office/drawing/2014/main" id="{12E8ED90-6D42-AE40-963A-3924EE2073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30625" y="5623560"/>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55E9273-3717-C94C-9BFF-75E87E47C4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8679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48C0C-E490-2F24-C3B2-C0428190F192}"/>
              </a:ext>
            </a:extLst>
          </p:cNvPr>
          <p:cNvSpPr>
            <a:spLocks noGrp="1"/>
          </p:cNvSpPr>
          <p:nvPr>
            <p:ph type="title"/>
          </p:nvPr>
        </p:nvSpPr>
        <p:spPr/>
        <p:txBody>
          <a:bodyPr/>
          <a:lstStyle/>
          <a:p>
            <a:r>
              <a:rPr lang="en-ZA" dirty="0"/>
              <a:t>Project Overview</a:t>
            </a:r>
          </a:p>
        </p:txBody>
      </p:sp>
      <p:sp>
        <p:nvSpPr>
          <p:cNvPr id="3" name="Content Placeholder 2">
            <a:extLst>
              <a:ext uri="{FF2B5EF4-FFF2-40B4-BE49-F238E27FC236}">
                <a16:creationId xmlns:a16="http://schemas.microsoft.com/office/drawing/2014/main" id="{8CAC64F3-789C-AE79-AE66-2558BB732A9C}"/>
              </a:ext>
            </a:extLst>
          </p:cNvPr>
          <p:cNvSpPr>
            <a:spLocks noGrp="1"/>
          </p:cNvSpPr>
          <p:nvPr>
            <p:ph idx="1"/>
          </p:nvPr>
        </p:nvSpPr>
        <p:spPr/>
        <p:txBody>
          <a:bodyPr/>
          <a:lstStyle/>
          <a:p>
            <a:pPr marL="0" indent="0">
              <a:buNone/>
            </a:pPr>
            <a:r>
              <a:rPr lang="en-GB" dirty="0"/>
              <a:t>The </a:t>
            </a:r>
            <a:r>
              <a:rPr lang="en-GB" b="1" dirty="0"/>
              <a:t>Online Retail Management System (ORMS)</a:t>
            </a:r>
            <a:r>
              <a:rPr lang="en-GB" dirty="0"/>
              <a:t> is a web-based, three-tier client-server application designed to help small-to-medium-sized retailers streamline their inventory management and online order processing. This system will allow customers to place orders and track shipments, while administrators manage products, orders, and customer data, thus improving operational efficiency and enhancing the customer experience.</a:t>
            </a:r>
            <a:endParaRPr lang="en-ZA" dirty="0"/>
          </a:p>
        </p:txBody>
      </p:sp>
    </p:spTree>
    <p:extLst>
      <p:ext uri="{BB962C8B-B14F-4D97-AF65-F5344CB8AC3E}">
        <p14:creationId xmlns:p14="http://schemas.microsoft.com/office/powerpoint/2010/main" val="3866934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07C00-0922-C063-721A-B2917A370919}"/>
              </a:ext>
            </a:extLst>
          </p:cNvPr>
          <p:cNvSpPr>
            <a:spLocks noGrp="1"/>
          </p:cNvSpPr>
          <p:nvPr>
            <p:ph type="title"/>
          </p:nvPr>
        </p:nvSpPr>
        <p:spPr/>
        <p:txBody>
          <a:bodyPr>
            <a:normAutofit/>
          </a:bodyPr>
          <a:lstStyle/>
          <a:p>
            <a:r>
              <a:rPr lang="en-GB" sz="2400" b="1" dirty="0"/>
              <a:t>Field of Business</a:t>
            </a:r>
            <a:r>
              <a:rPr lang="en-GB" sz="2400" dirty="0"/>
              <a:t>: E-commerce (specifically targeting small-to-medium retailers).</a:t>
            </a:r>
            <a:endParaRPr lang="en-ZA" sz="2400" dirty="0"/>
          </a:p>
        </p:txBody>
      </p:sp>
      <p:sp>
        <p:nvSpPr>
          <p:cNvPr id="3" name="Content Placeholder 2">
            <a:extLst>
              <a:ext uri="{FF2B5EF4-FFF2-40B4-BE49-F238E27FC236}">
                <a16:creationId xmlns:a16="http://schemas.microsoft.com/office/drawing/2014/main" id="{7797EAB8-5DD0-B18C-D9B6-FBEFDAF343C2}"/>
              </a:ext>
            </a:extLst>
          </p:cNvPr>
          <p:cNvSpPr>
            <a:spLocks noGrp="1"/>
          </p:cNvSpPr>
          <p:nvPr>
            <p:ph idx="1"/>
          </p:nvPr>
        </p:nvSpPr>
        <p:spPr/>
        <p:txBody>
          <a:bodyPr>
            <a:normAutofit lnSpcReduction="10000"/>
          </a:bodyPr>
          <a:lstStyle/>
          <a:p>
            <a:pPr>
              <a:buFont typeface="Arial" panose="020B0604020202020204" pitchFamily="34" charset="0"/>
              <a:buChar char="•"/>
            </a:pPr>
            <a:r>
              <a:rPr lang="en-GB" b="1" dirty="0"/>
              <a:t>Glossary and Terminology</a:t>
            </a:r>
            <a:r>
              <a:rPr lang="en-GB" dirty="0"/>
              <a:t>:</a:t>
            </a:r>
          </a:p>
          <a:p>
            <a:pPr>
              <a:buFont typeface="Arial" panose="020B0604020202020204" pitchFamily="34" charset="0"/>
              <a:buChar char="•"/>
            </a:pPr>
            <a:r>
              <a:rPr lang="en-GB" b="1" dirty="0"/>
              <a:t>Client-Server Architecture</a:t>
            </a:r>
            <a:r>
              <a:rPr lang="en-GB" dirty="0"/>
              <a:t>: A system where the user interface (client), business logic (server), and database are separate.</a:t>
            </a:r>
          </a:p>
          <a:p>
            <a:pPr>
              <a:buFont typeface="Arial" panose="020B0604020202020204" pitchFamily="34" charset="0"/>
              <a:buChar char="•"/>
            </a:pPr>
            <a:r>
              <a:rPr lang="en-GB" b="1" dirty="0"/>
              <a:t>Inventory Management</a:t>
            </a:r>
            <a:r>
              <a:rPr lang="en-GB" dirty="0"/>
              <a:t>: Process of tracking and managing stock levels.</a:t>
            </a:r>
          </a:p>
          <a:p>
            <a:pPr>
              <a:buFont typeface="Arial" panose="020B0604020202020204" pitchFamily="34" charset="0"/>
              <a:buChar char="•"/>
            </a:pPr>
            <a:r>
              <a:rPr lang="en-GB" b="1" dirty="0"/>
              <a:t>Order Tracking</a:t>
            </a:r>
            <a:r>
              <a:rPr lang="en-GB" dirty="0"/>
              <a:t>: The system allows customers to follow the status of their orders.</a:t>
            </a:r>
          </a:p>
          <a:p>
            <a:pPr marL="0" indent="0">
              <a:buNone/>
            </a:pPr>
            <a:endParaRPr lang="en-ZA" dirty="0"/>
          </a:p>
        </p:txBody>
      </p:sp>
    </p:spTree>
    <p:extLst>
      <p:ext uri="{BB962C8B-B14F-4D97-AF65-F5344CB8AC3E}">
        <p14:creationId xmlns:p14="http://schemas.microsoft.com/office/powerpoint/2010/main" val="2498905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4E3F4-09AF-8576-D8D8-EA039217C041}"/>
              </a:ext>
            </a:extLst>
          </p:cNvPr>
          <p:cNvSpPr>
            <a:spLocks noGrp="1"/>
          </p:cNvSpPr>
          <p:nvPr>
            <p:ph type="title"/>
          </p:nvPr>
        </p:nvSpPr>
        <p:spPr/>
        <p:txBody>
          <a:bodyPr/>
          <a:lstStyle/>
          <a:p>
            <a:r>
              <a:rPr lang="en-ZA" b="1" dirty="0"/>
              <a:t>Business Environment</a:t>
            </a:r>
            <a:r>
              <a:rPr lang="en-ZA" dirty="0"/>
              <a:t>:</a:t>
            </a:r>
          </a:p>
        </p:txBody>
      </p:sp>
      <p:sp>
        <p:nvSpPr>
          <p:cNvPr id="3" name="Content Placeholder 2">
            <a:extLst>
              <a:ext uri="{FF2B5EF4-FFF2-40B4-BE49-F238E27FC236}">
                <a16:creationId xmlns:a16="http://schemas.microsoft.com/office/drawing/2014/main" id="{C0B48A5D-EBB9-D68F-9D6F-3A3736089A7C}"/>
              </a:ext>
            </a:extLst>
          </p:cNvPr>
          <p:cNvSpPr>
            <a:spLocks noGrp="1"/>
          </p:cNvSpPr>
          <p:nvPr>
            <p:ph idx="1"/>
          </p:nvPr>
        </p:nvSpPr>
        <p:spPr/>
        <p:txBody>
          <a:bodyPr/>
          <a:lstStyle/>
          <a:p>
            <a:pPr marL="0" indent="0">
              <a:buNone/>
            </a:pPr>
            <a:r>
              <a:rPr lang="en-GB" dirty="0"/>
              <a:t>Many small businesses are adopting online platforms to extend their reach. This system aims to improve operational efficiency by automating product and order management.</a:t>
            </a:r>
            <a:endParaRPr lang="en-ZA" dirty="0"/>
          </a:p>
        </p:txBody>
      </p:sp>
    </p:spTree>
    <p:extLst>
      <p:ext uri="{BB962C8B-B14F-4D97-AF65-F5344CB8AC3E}">
        <p14:creationId xmlns:p14="http://schemas.microsoft.com/office/powerpoint/2010/main" val="2710117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5D23E-3D4B-A974-FC29-120E8B7A01C7}"/>
              </a:ext>
            </a:extLst>
          </p:cNvPr>
          <p:cNvSpPr>
            <a:spLocks noGrp="1"/>
          </p:cNvSpPr>
          <p:nvPr>
            <p:ph type="title"/>
          </p:nvPr>
        </p:nvSpPr>
        <p:spPr/>
        <p:txBody>
          <a:bodyPr/>
          <a:lstStyle/>
          <a:p>
            <a:r>
              <a:rPr lang="en-ZA" dirty="0"/>
              <a:t>Domain Analysis</a:t>
            </a:r>
          </a:p>
        </p:txBody>
      </p:sp>
      <p:sp>
        <p:nvSpPr>
          <p:cNvPr id="4" name="Rectangle 1">
            <a:extLst>
              <a:ext uri="{FF2B5EF4-FFF2-40B4-BE49-F238E27FC236}">
                <a16:creationId xmlns:a16="http://schemas.microsoft.com/office/drawing/2014/main" id="{3C83EB8B-BAD8-2EB2-21DE-364DF843126F}"/>
              </a:ext>
            </a:extLst>
          </p:cNvPr>
          <p:cNvSpPr>
            <a:spLocks noGrp="1" noChangeArrowheads="1"/>
          </p:cNvSpPr>
          <p:nvPr>
            <p:ph idx="1"/>
          </p:nvPr>
        </p:nvSpPr>
        <p:spPr bwMode="auto">
          <a:xfrm>
            <a:off x="565150" y="2577771"/>
            <a:ext cx="1103699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Tasks and Procedures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Customers browse and place orders.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Admins manage the inventory and process orders.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Sales representatives track order statuses and respond to customer inquiries.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Customers and Users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End users are customers (online shoppers), admins (store managers), and sales representatives.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Competing Software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Shopify, Magento, WooCommerce.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Similarities to Other Domains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Similar to warehouse management or logistics software, which also involves tracking items and managing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workflows.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56899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D4408-1A95-9157-E9A7-00AD49AFB80B}"/>
              </a:ext>
            </a:extLst>
          </p:cNvPr>
          <p:cNvSpPr>
            <a:spLocks noGrp="1"/>
          </p:cNvSpPr>
          <p:nvPr>
            <p:ph type="title"/>
          </p:nvPr>
        </p:nvSpPr>
        <p:spPr/>
        <p:txBody>
          <a:bodyPr/>
          <a:lstStyle/>
          <a:p>
            <a:r>
              <a:rPr lang="en-ZA" dirty="0"/>
              <a:t>Define the Problem</a:t>
            </a:r>
          </a:p>
        </p:txBody>
      </p:sp>
      <p:sp>
        <p:nvSpPr>
          <p:cNvPr id="5" name="Rectangle 2">
            <a:extLst>
              <a:ext uri="{FF2B5EF4-FFF2-40B4-BE49-F238E27FC236}">
                <a16:creationId xmlns:a16="http://schemas.microsoft.com/office/drawing/2014/main" id="{EC573F97-6C6C-14E7-FFC2-6CB53E77E311}"/>
              </a:ext>
            </a:extLst>
          </p:cNvPr>
          <p:cNvSpPr>
            <a:spLocks noGrp="1" noChangeArrowheads="1"/>
          </p:cNvSpPr>
          <p:nvPr>
            <p:ph idx="1"/>
          </p:nvPr>
        </p:nvSpPr>
        <p:spPr bwMode="auto">
          <a:xfrm>
            <a:off x="565149" y="2497400"/>
            <a:ext cx="1104982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Problem</a:t>
            </a:r>
            <a:r>
              <a:rPr kumimoji="0" lang="en-US" altLang="en-US" sz="1800" b="0" i="0" u="none" strike="noStrike" cap="none" normalizeH="0" baseline="0" dirty="0">
                <a:ln>
                  <a:noFill/>
                </a:ln>
                <a:solidFill>
                  <a:schemeClr val="tx1"/>
                </a:solidFill>
                <a:effectLst/>
                <a:latin typeface="Arial" panose="020B0604020202020204" pitchFamily="34" charset="0"/>
              </a:rPr>
              <a:t>: Small retailers often struggle with manual inventory tracking and customer order management,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leading to delays, errors, and customer dissatisfaction.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Opportunity</a:t>
            </a:r>
            <a:r>
              <a:rPr kumimoji="0" lang="en-US" altLang="en-US" sz="1800" b="0" i="0" u="none" strike="noStrike" cap="none" normalizeH="0" baseline="0" dirty="0">
                <a:ln>
                  <a:noFill/>
                </a:ln>
                <a:solidFill>
                  <a:schemeClr val="tx1"/>
                </a:solidFill>
                <a:effectLst/>
                <a:latin typeface="Arial" panose="020B0604020202020204" pitchFamily="34" charset="0"/>
              </a:rPr>
              <a:t>: Creating a centralized platform will improve order processing speed, reduce manual errors,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and offer better customer engagement, increasing sales and customer satisfaction.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95061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6BED7-8C70-1C43-353D-00EE8791BA23}"/>
              </a:ext>
            </a:extLst>
          </p:cNvPr>
          <p:cNvSpPr>
            <a:spLocks noGrp="1"/>
          </p:cNvSpPr>
          <p:nvPr>
            <p:ph type="title"/>
          </p:nvPr>
        </p:nvSpPr>
        <p:spPr/>
        <p:txBody>
          <a:bodyPr/>
          <a:lstStyle/>
          <a:p>
            <a:r>
              <a:rPr lang="en-ZA" dirty="0"/>
              <a:t>Define the Scope</a:t>
            </a:r>
          </a:p>
        </p:txBody>
      </p:sp>
      <p:sp>
        <p:nvSpPr>
          <p:cNvPr id="4" name="Rectangle 1">
            <a:extLst>
              <a:ext uri="{FF2B5EF4-FFF2-40B4-BE49-F238E27FC236}">
                <a16:creationId xmlns:a16="http://schemas.microsoft.com/office/drawing/2014/main" id="{20F1AAE5-C0FE-2649-4F96-00F3D4754B8A}"/>
              </a:ext>
            </a:extLst>
          </p:cNvPr>
          <p:cNvSpPr>
            <a:spLocks noGrp="1" noChangeArrowheads="1"/>
          </p:cNvSpPr>
          <p:nvPr>
            <p:ph idx="1"/>
          </p:nvPr>
        </p:nvSpPr>
        <p:spPr bwMode="auto">
          <a:xfrm>
            <a:off x="565150" y="2162273"/>
            <a:ext cx="1152430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Current Situation</a:t>
            </a:r>
            <a:r>
              <a:rPr kumimoji="0" lang="en-US" altLang="en-US" sz="1800" b="0" i="0" u="none" strike="noStrike" cap="none" normalizeH="0" baseline="0" dirty="0">
                <a:ln>
                  <a:noFill/>
                </a:ln>
                <a:solidFill>
                  <a:schemeClr val="tx1"/>
                </a:solidFill>
                <a:effectLst/>
                <a:latin typeface="Arial" panose="020B0604020202020204" pitchFamily="34" charset="0"/>
              </a:rPr>
              <a:t>: Many small businesses rely on manual or disjointed systems to manage online orders and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inventory, which leads to inefficiency.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Causes and Stakeholders</a:t>
            </a:r>
            <a:r>
              <a:rPr kumimoji="0" lang="en-US" altLang="en-US" sz="1800" b="0" i="0" u="none" strike="noStrike" cap="none" normalizeH="0" baseline="0" dirty="0">
                <a:ln>
                  <a:noFill/>
                </a:ln>
                <a:solidFill>
                  <a:schemeClr val="tx1"/>
                </a:solidFill>
                <a:effectLst/>
                <a:latin typeface="Arial" panose="020B0604020202020204" pitchFamily="34" charset="0"/>
              </a:rPr>
              <a:t>: The absence of an integrated system leads to delays in processing orders and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difficulty in tracking customer data. Stakeholders include store owners, sales teams, and customers.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Achievable Goals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Develop a web platform that allows seamless order processing, customer management, and product tracking.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Resources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Development team, hosting infrastructure, development tools (Java, Spring Boot, MySQL).</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IRBM Elements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Inputs</a:t>
            </a:r>
            <a:r>
              <a:rPr kumimoji="0" lang="en-US" altLang="en-US" sz="1800" b="0" i="0" u="none" strike="noStrike" cap="none" normalizeH="0" baseline="0" dirty="0">
                <a:ln>
                  <a:noFill/>
                </a:ln>
                <a:solidFill>
                  <a:schemeClr val="tx1"/>
                </a:solidFill>
                <a:effectLst/>
                <a:latin typeface="Arial" panose="020B0604020202020204" pitchFamily="34" charset="0"/>
              </a:rPr>
              <a:t>: Development resources, existing customer/product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Activities</a:t>
            </a:r>
            <a:r>
              <a:rPr kumimoji="0" lang="en-US" altLang="en-US" sz="1800" b="0" i="0" u="none" strike="noStrike" cap="none" normalizeH="0" baseline="0" dirty="0">
                <a:ln>
                  <a:noFill/>
                </a:ln>
                <a:solidFill>
                  <a:schemeClr val="tx1"/>
                </a:solidFill>
                <a:effectLst/>
                <a:latin typeface="Arial" panose="020B0604020202020204" pitchFamily="34" charset="0"/>
              </a:rPr>
              <a:t>: Automating product catalog, enabling order placement and tracking.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Outputs</a:t>
            </a:r>
            <a:r>
              <a:rPr kumimoji="0" lang="en-US" altLang="en-US" sz="1800" b="0" i="0" u="none" strike="noStrike" cap="none" normalizeH="0" baseline="0" dirty="0">
                <a:ln>
                  <a:noFill/>
                </a:ln>
                <a:solidFill>
                  <a:schemeClr val="tx1"/>
                </a:solidFill>
                <a:effectLst/>
                <a:latin typeface="Arial" panose="020B0604020202020204" pitchFamily="34" charset="0"/>
              </a:rPr>
              <a:t>: An operational web application for managing online orders and inventory.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Outcomes</a:t>
            </a:r>
            <a:r>
              <a:rPr kumimoji="0" lang="en-US" altLang="en-US" sz="1800" b="0" i="0" u="none" strike="noStrike" cap="none" normalizeH="0" baseline="0" dirty="0">
                <a:ln>
                  <a:noFill/>
                </a:ln>
                <a:solidFill>
                  <a:schemeClr val="tx1"/>
                </a:solidFill>
                <a:effectLst/>
                <a:latin typeface="Arial" panose="020B0604020202020204" pitchFamily="34" charset="0"/>
              </a:rPr>
              <a:t>: Enhanced operational efficiency and faster order fulfillment.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Impact</a:t>
            </a:r>
            <a:r>
              <a:rPr kumimoji="0" lang="en-US" altLang="en-US" sz="1800" b="0" i="0" u="none" strike="noStrike" cap="none" normalizeH="0" baseline="0" dirty="0">
                <a:ln>
                  <a:noFill/>
                </a:ln>
                <a:solidFill>
                  <a:schemeClr val="tx1"/>
                </a:solidFill>
                <a:effectLst/>
                <a:latin typeface="Arial" panose="020B0604020202020204" pitchFamily="34" charset="0"/>
              </a:rPr>
              <a:t>: Increased customer satisfaction, higher sales, and improved inventory control.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56607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BFF0C-0BDC-EEB6-22B8-8B3D4D95165A}"/>
              </a:ext>
            </a:extLst>
          </p:cNvPr>
          <p:cNvSpPr>
            <a:spLocks noGrp="1"/>
          </p:cNvSpPr>
          <p:nvPr>
            <p:ph type="title"/>
          </p:nvPr>
        </p:nvSpPr>
        <p:spPr/>
        <p:txBody>
          <a:bodyPr/>
          <a:lstStyle/>
          <a:p>
            <a:r>
              <a:rPr lang="en-ZA" dirty="0"/>
              <a:t>Vision and Objectives</a:t>
            </a:r>
          </a:p>
        </p:txBody>
      </p:sp>
      <p:sp>
        <p:nvSpPr>
          <p:cNvPr id="4" name="Rectangle 1">
            <a:extLst>
              <a:ext uri="{FF2B5EF4-FFF2-40B4-BE49-F238E27FC236}">
                <a16:creationId xmlns:a16="http://schemas.microsoft.com/office/drawing/2014/main" id="{A93FB183-A151-435A-2535-A0B271F6AE27}"/>
              </a:ext>
            </a:extLst>
          </p:cNvPr>
          <p:cNvSpPr>
            <a:spLocks noGrp="1" noChangeArrowheads="1"/>
          </p:cNvSpPr>
          <p:nvPr>
            <p:ph idx="1"/>
          </p:nvPr>
        </p:nvSpPr>
        <p:spPr bwMode="auto">
          <a:xfrm>
            <a:off x="565150" y="3131769"/>
            <a:ext cx="1158015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Vision</a:t>
            </a:r>
            <a:r>
              <a:rPr kumimoji="0" lang="en-US" altLang="en-US" sz="1800" b="0" i="0" u="none" strike="noStrike" cap="none" normalizeH="0" baseline="0" dirty="0">
                <a:ln>
                  <a:noFill/>
                </a:ln>
                <a:solidFill>
                  <a:schemeClr val="tx1"/>
                </a:solidFill>
                <a:effectLst/>
                <a:latin typeface="Arial" panose="020B0604020202020204" pitchFamily="34" charset="0"/>
              </a:rPr>
              <a:t>: To provide small retailers with a user-friendly platform that simplifies inventory and order management,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resulting in faster processing times and increased customer satisfaction.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Objectives</a:t>
            </a:r>
            <a:r>
              <a:rPr kumimoji="0" lang="en-US" altLang="en-US" sz="1800" b="0" i="0" u="none" strike="noStrike" cap="none" normalizeH="0" baseline="0" dirty="0">
                <a:ln>
                  <a:noFill/>
                </a:ln>
                <a:solidFill>
                  <a:schemeClr val="tx1"/>
                </a:solidFill>
                <a:effectLst/>
                <a:latin typeface="Arial" panose="020B0604020202020204" pitchFamily="34" charset="0"/>
              </a:rPr>
              <a:t> (SMART):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 the platform within six months.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Reduce order processing time by 30%.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Ensure 99% uptime availability for the system.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2954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C89F9-F7B4-B1BD-5B3D-2376A2ED4FC9}"/>
              </a:ext>
            </a:extLst>
          </p:cNvPr>
          <p:cNvSpPr>
            <a:spLocks noGrp="1"/>
          </p:cNvSpPr>
          <p:nvPr>
            <p:ph type="title"/>
          </p:nvPr>
        </p:nvSpPr>
        <p:spPr/>
        <p:txBody>
          <a:bodyPr/>
          <a:lstStyle/>
          <a:p>
            <a:r>
              <a:rPr lang="en-ZA" dirty="0"/>
              <a:t>Users of the System</a:t>
            </a:r>
          </a:p>
        </p:txBody>
      </p:sp>
      <p:sp>
        <p:nvSpPr>
          <p:cNvPr id="4" name="Rectangle 1">
            <a:extLst>
              <a:ext uri="{FF2B5EF4-FFF2-40B4-BE49-F238E27FC236}">
                <a16:creationId xmlns:a16="http://schemas.microsoft.com/office/drawing/2014/main" id="{3461DF66-9894-12D4-C3C4-349BCAD369E0}"/>
              </a:ext>
            </a:extLst>
          </p:cNvPr>
          <p:cNvSpPr>
            <a:spLocks noGrp="1" noChangeArrowheads="1"/>
          </p:cNvSpPr>
          <p:nvPr>
            <p:ph idx="1"/>
          </p:nvPr>
        </p:nvSpPr>
        <p:spPr bwMode="auto">
          <a:xfrm>
            <a:off x="565149" y="2690336"/>
            <a:ext cx="819006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Customers</a:t>
            </a:r>
            <a:r>
              <a:rPr kumimoji="0" lang="en-US" altLang="en-US" sz="1800" b="0" i="0" u="none" strike="noStrike" cap="none" normalizeH="0" baseline="0" dirty="0">
                <a:ln>
                  <a:noFill/>
                </a:ln>
                <a:solidFill>
                  <a:schemeClr val="tx1"/>
                </a:solidFill>
                <a:effectLst/>
                <a:latin typeface="Arial" panose="020B0604020202020204" pitchFamily="34" charset="0"/>
              </a:rPr>
              <a:t>: Browse and place orders, track shipments.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Admins</a:t>
            </a:r>
            <a:r>
              <a:rPr kumimoji="0" lang="en-US" altLang="en-US" sz="1800" b="0" i="0" u="none" strike="noStrike" cap="none" normalizeH="0" baseline="0" dirty="0">
                <a:ln>
                  <a:noFill/>
                </a:ln>
                <a:solidFill>
                  <a:schemeClr val="tx1"/>
                </a:solidFill>
                <a:effectLst/>
                <a:latin typeface="Arial" panose="020B0604020202020204" pitchFamily="34" charset="0"/>
              </a:rPr>
              <a:t>: Manage product listings, process orders, and handle customer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Sales Representatives</a:t>
            </a:r>
            <a:r>
              <a:rPr kumimoji="0" lang="en-US" altLang="en-US" sz="1800" b="0" i="0" u="none" strike="noStrike" cap="none" normalizeH="0" baseline="0" dirty="0">
                <a:ln>
                  <a:noFill/>
                </a:ln>
                <a:solidFill>
                  <a:schemeClr val="tx1"/>
                </a:solidFill>
                <a:effectLst/>
                <a:latin typeface="Arial" panose="020B0604020202020204" pitchFamily="34" charset="0"/>
              </a:rPr>
              <a:t>: Respond to customer inquiries, monitor orders. </a:t>
            </a:r>
          </a:p>
        </p:txBody>
      </p:sp>
    </p:spTree>
    <p:extLst>
      <p:ext uri="{BB962C8B-B14F-4D97-AF65-F5344CB8AC3E}">
        <p14:creationId xmlns:p14="http://schemas.microsoft.com/office/powerpoint/2010/main" val="1312619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B7272-AC79-9169-9E99-3B3FBC924F0E}"/>
              </a:ext>
            </a:extLst>
          </p:cNvPr>
          <p:cNvSpPr>
            <a:spLocks noGrp="1"/>
          </p:cNvSpPr>
          <p:nvPr>
            <p:ph type="title"/>
          </p:nvPr>
        </p:nvSpPr>
        <p:spPr/>
        <p:txBody>
          <a:bodyPr/>
          <a:lstStyle/>
          <a:p>
            <a:r>
              <a:rPr lang="en-ZA" dirty="0"/>
              <a:t>Mandatory Functions</a:t>
            </a:r>
          </a:p>
        </p:txBody>
      </p:sp>
      <p:sp>
        <p:nvSpPr>
          <p:cNvPr id="3" name="Content Placeholder 2">
            <a:extLst>
              <a:ext uri="{FF2B5EF4-FFF2-40B4-BE49-F238E27FC236}">
                <a16:creationId xmlns:a16="http://schemas.microsoft.com/office/drawing/2014/main" id="{CCDBEC5E-922E-133B-2250-BDA1F0437B5B}"/>
              </a:ext>
            </a:extLst>
          </p:cNvPr>
          <p:cNvSpPr>
            <a:spLocks noGrp="1"/>
          </p:cNvSpPr>
          <p:nvPr>
            <p:ph idx="1"/>
          </p:nvPr>
        </p:nvSpPr>
        <p:spPr/>
        <p:txBody>
          <a:bodyPr/>
          <a:lstStyle/>
          <a:p>
            <a:pPr marL="0" indent="0">
              <a:buNone/>
            </a:pPr>
            <a:r>
              <a:rPr lang="en-GB" dirty="0"/>
              <a:t>Add/Register, Delete/Remove, and Update products, customer data, and order records in the database.</a:t>
            </a:r>
            <a:endParaRPr lang="en-ZA" dirty="0"/>
          </a:p>
        </p:txBody>
      </p:sp>
    </p:spTree>
    <p:extLst>
      <p:ext uri="{BB962C8B-B14F-4D97-AF65-F5344CB8AC3E}">
        <p14:creationId xmlns:p14="http://schemas.microsoft.com/office/powerpoint/2010/main" val="632738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6999-455F-18FD-A36B-15DED1E47A8D}"/>
              </a:ext>
            </a:extLst>
          </p:cNvPr>
          <p:cNvSpPr>
            <a:spLocks noGrp="1"/>
          </p:cNvSpPr>
          <p:nvPr>
            <p:ph type="title"/>
          </p:nvPr>
        </p:nvSpPr>
        <p:spPr/>
        <p:txBody>
          <a:bodyPr/>
          <a:lstStyle/>
          <a:p>
            <a:r>
              <a:rPr lang="en-ZA" dirty="0"/>
              <a:t>Functional Requirements</a:t>
            </a:r>
          </a:p>
        </p:txBody>
      </p:sp>
      <p:sp>
        <p:nvSpPr>
          <p:cNvPr id="4" name="Rectangle 1">
            <a:extLst>
              <a:ext uri="{FF2B5EF4-FFF2-40B4-BE49-F238E27FC236}">
                <a16:creationId xmlns:a16="http://schemas.microsoft.com/office/drawing/2014/main" id="{E61AEA1A-C9B2-B74D-334C-20361257CBD1}"/>
              </a:ext>
            </a:extLst>
          </p:cNvPr>
          <p:cNvSpPr>
            <a:spLocks noGrp="1" noChangeArrowheads="1"/>
          </p:cNvSpPr>
          <p:nvPr>
            <p:ph idx="1"/>
          </p:nvPr>
        </p:nvSpPr>
        <p:spPr bwMode="auto">
          <a:xfrm>
            <a:off x="565149" y="2064970"/>
            <a:ext cx="912204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Inputs</a:t>
            </a:r>
            <a:r>
              <a:rPr kumimoji="0" lang="en-US" altLang="en-US" sz="1800" b="0" i="0" u="none" strike="noStrike" cap="none" normalizeH="0" baseline="0" dirty="0">
                <a:ln>
                  <a:noFill/>
                </a:ln>
                <a:solidFill>
                  <a:schemeClr val="tx1"/>
                </a:solidFill>
                <a:effectLst/>
                <a:latin typeface="Arial" panose="020B0604020202020204" pitchFamily="34" charset="0"/>
              </a:rPr>
              <a:t>: Customer details, product selections, payment information.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Outputs</a:t>
            </a:r>
            <a:r>
              <a:rPr kumimoji="0" lang="en-US" altLang="en-US" sz="1800" b="0" i="0" u="none" strike="noStrike" cap="none" normalizeH="0" baseline="0" dirty="0">
                <a:ln>
                  <a:noFill/>
                </a:ln>
                <a:solidFill>
                  <a:schemeClr val="tx1"/>
                </a:solidFill>
                <a:effectLst/>
                <a:latin typeface="Arial" panose="020B0604020202020204" pitchFamily="34" charset="0"/>
              </a:rPr>
              <a:t>: Order confirmations, shipment tracking details.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Computations</a:t>
            </a:r>
            <a:r>
              <a:rPr kumimoji="0" lang="en-US" altLang="en-US" sz="1800" b="0" i="0" u="none" strike="noStrike" cap="none" normalizeH="0" baseline="0" dirty="0">
                <a:ln>
                  <a:noFill/>
                </a:ln>
                <a:solidFill>
                  <a:schemeClr val="tx1"/>
                </a:solidFill>
                <a:effectLst/>
                <a:latin typeface="Arial" panose="020B0604020202020204" pitchFamily="34" charset="0"/>
              </a:rPr>
              <a:t>: Validate customer data, calculate order totals, update inventory levels.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Timing and Synchronization</a:t>
            </a:r>
            <a:r>
              <a:rPr kumimoji="0" lang="en-US" altLang="en-US" sz="1800" b="0" i="0" u="none" strike="noStrike" cap="none" normalizeH="0" baseline="0" dirty="0">
                <a:ln>
                  <a:noFill/>
                </a:ln>
                <a:solidFill>
                  <a:schemeClr val="tx1"/>
                </a:solidFill>
                <a:effectLst/>
                <a:latin typeface="Arial" panose="020B0604020202020204" pitchFamily="34" charset="0"/>
              </a:rPr>
              <a:t>: Order placement should trigger inventory updates, and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customer notification should be real-time. </a:t>
            </a:r>
          </a:p>
        </p:txBody>
      </p:sp>
    </p:spTree>
    <p:extLst>
      <p:ext uri="{BB962C8B-B14F-4D97-AF65-F5344CB8AC3E}">
        <p14:creationId xmlns:p14="http://schemas.microsoft.com/office/powerpoint/2010/main" val="494038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75F28-BF71-5077-72E7-2DCE4B7F806D}"/>
              </a:ext>
            </a:extLst>
          </p:cNvPr>
          <p:cNvSpPr>
            <a:spLocks noGrp="1"/>
          </p:cNvSpPr>
          <p:nvPr>
            <p:ph type="title"/>
          </p:nvPr>
        </p:nvSpPr>
        <p:spPr/>
        <p:txBody>
          <a:bodyPr/>
          <a:lstStyle/>
          <a:p>
            <a:r>
              <a:rPr lang="en-ZA" dirty="0"/>
              <a:t>Non-functional Requirements</a:t>
            </a:r>
          </a:p>
        </p:txBody>
      </p:sp>
      <p:sp>
        <p:nvSpPr>
          <p:cNvPr id="4" name="Rectangle 1">
            <a:extLst>
              <a:ext uri="{FF2B5EF4-FFF2-40B4-BE49-F238E27FC236}">
                <a16:creationId xmlns:a16="http://schemas.microsoft.com/office/drawing/2014/main" id="{146EF640-EDE2-DA86-51CD-ADE1EA182E3F}"/>
              </a:ext>
            </a:extLst>
          </p:cNvPr>
          <p:cNvSpPr>
            <a:spLocks noGrp="1" noChangeArrowheads="1"/>
          </p:cNvSpPr>
          <p:nvPr>
            <p:ph idx="1"/>
          </p:nvPr>
        </p:nvSpPr>
        <p:spPr bwMode="auto">
          <a:xfrm>
            <a:off x="565149" y="2689732"/>
            <a:ext cx="893385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Authentication</a:t>
            </a:r>
            <a:r>
              <a:rPr kumimoji="0" lang="en-US" altLang="en-US" sz="1800" b="0" i="0" u="none" strike="noStrike" cap="none" normalizeH="0" baseline="0" dirty="0">
                <a:ln>
                  <a:noFill/>
                </a:ln>
                <a:solidFill>
                  <a:schemeClr val="tx1"/>
                </a:solidFill>
                <a:effectLst/>
                <a:latin typeface="Arial" panose="020B0604020202020204" pitchFamily="34" charset="0"/>
              </a:rPr>
              <a:t>: Customers and admins log in to access their respective dashboards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Availability</a:t>
            </a:r>
            <a:r>
              <a:rPr kumimoji="0" lang="en-US" altLang="en-US" sz="1800" b="0" i="0" u="none" strike="noStrike" cap="none" normalizeH="0" baseline="0" dirty="0">
                <a:ln>
                  <a:noFill/>
                </a:ln>
                <a:solidFill>
                  <a:schemeClr val="tx1"/>
                </a:solidFill>
                <a:effectLst/>
                <a:latin typeface="Arial" panose="020B0604020202020204" pitchFamily="34" charset="0"/>
              </a:rPr>
              <a:t>: The system should be available 24/7 with a 99% uptime guarantee. </a:t>
            </a:r>
          </a:p>
        </p:txBody>
      </p:sp>
    </p:spTree>
    <p:extLst>
      <p:ext uri="{BB962C8B-B14F-4D97-AF65-F5344CB8AC3E}">
        <p14:creationId xmlns:p14="http://schemas.microsoft.com/office/powerpoint/2010/main" val="2028912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8747E-492E-FEE5-4824-056F3A69B301}"/>
              </a:ext>
            </a:extLst>
          </p:cNvPr>
          <p:cNvSpPr>
            <a:spLocks noGrp="1"/>
          </p:cNvSpPr>
          <p:nvPr>
            <p:ph type="title"/>
          </p:nvPr>
        </p:nvSpPr>
        <p:spPr/>
        <p:txBody>
          <a:bodyPr/>
          <a:lstStyle/>
          <a:p>
            <a:r>
              <a:rPr lang="en-ZA" dirty="0"/>
              <a:t>Use Case</a:t>
            </a:r>
          </a:p>
        </p:txBody>
      </p:sp>
      <p:sp>
        <p:nvSpPr>
          <p:cNvPr id="3" name="Content Placeholder 2">
            <a:extLst>
              <a:ext uri="{FF2B5EF4-FFF2-40B4-BE49-F238E27FC236}">
                <a16:creationId xmlns:a16="http://schemas.microsoft.com/office/drawing/2014/main" id="{55FA850D-823E-FA17-980D-A536FAA42CA7}"/>
              </a:ext>
            </a:extLst>
          </p:cNvPr>
          <p:cNvSpPr>
            <a:spLocks noGrp="1"/>
          </p:cNvSpPr>
          <p:nvPr>
            <p:ph idx="1"/>
          </p:nvPr>
        </p:nvSpPr>
        <p:spPr/>
        <p:txBody>
          <a:bodyPr/>
          <a:lstStyle/>
          <a:p>
            <a:pPr marL="0" indent="0">
              <a:buNone/>
            </a:pPr>
            <a:r>
              <a:rPr lang="en-GB" b="1" dirty="0"/>
              <a:t>Example</a:t>
            </a:r>
            <a:r>
              <a:rPr lang="en-GB" dirty="0"/>
              <a:t>:</a:t>
            </a:r>
          </a:p>
          <a:p>
            <a:pPr marL="0" indent="0">
              <a:buNone/>
            </a:pPr>
            <a:r>
              <a:rPr lang="en-GB" dirty="0"/>
              <a:t>A customer logs in, browses products, selects items, places an order, and receives a confirmation email with shipment tracking information</a:t>
            </a:r>
          </a:p>
          <a:p>
            <a:pPr marL="0" indent="0">
              <a:buNone/>
            </a:pPr>
            <a:endParaRPr lang="en-ZA" dirty="0"/>
          </a:p>
        </p:txBody>
      </p:sp>
    </p:spTree>
    <p:extLst>
      <p:ext uri="{BB962C8B-B14F-4D97-AF65-F5344CB8AC3E}">
        <p14:creationId xmlns:p14="http://schemas.microsoft.com/office/powerpoint/2010/main" val="2359678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23519-1EEF-EECF-5E8F-ED04C2239E4B}"/>
              </a:ext>
            </a:extLst>
          </p:cNvPr>
          <p:cNvSpPr>
            <a:spLocks noGrp="1"/>
          </p:cNvSpPr>
          <p:nvPr>
            <p:ph type="title"/>
          </p:nvPr>
        </p:nvSpPr>
        <p:spPr/>
        <p:txBody>
          <a:bodyPr/>
          <a:lstStyle/>
          <a:p>
            <a:r>
              <a:rPr lang="en-GB" dirty="0"/>
              <a:t>Technologies Used</a:t>
            </a:r>
            <a:endParaRPr lang="en-ZA" dirty="0"/>
          </a:p>
        </p:txBody>
      </p:sp>
      <p:sp>
        <p:nvSpPr>
          <p:cNvPr id="3" name="Content Placeholder 2">
            <a:extLst>
              <a:ext uri="{FF2B5EF4-FFF2-40B4-BE49-F238E27FC236}">
                <a16:creationId xmlns:a16="http://schemas.microsoft.com/office/drawing/2014/main" id="{34BCB144-C7CC-878E-C566-F9A93F91DF4C}"/>
              </a:ext>
            </a:extLst>
          </p:cNvPr>
          <p:cNvSpPr>
            <a:spLocks noGrp="1"/>
          </p:cNvSpPr>
          <p:nvPr>
            <p:ph idx="1"/>
          </p:nvPr>
        </p:nvSpPr>
        <p:spPr/>
        <p:txBody>
          <a:bodyPr/>
          <a:lstStyle/>
          <a:p>
            <a:pPr marL="0" indent="0">
              <a:buNone/>
            </a:pPr>
            <a:r>
              <a:rPr lang="en-GB" dirty="0"/>
              <a:t>.JAVA</a:t>
            </a:r>
          </a:p>
          <a:p>
            <a:pPr marL="0" indent="0">
              <a:buNone/>
            </a:pPr>
            <a:r>
              <a:rPr lang="en-GB" dirty="0"/>
              <a:t>.PHP</a:t>
            </a:r>
            <a:endParaRPr lang="en-ZA" dirty="0"/>
          </a:p>
        </p:txBody>
      </p:sp>
    </p:spTree>
    <p:extLst>
      <p:ext uri="{BB962C8B-B14F-4D97-AF65-F5344CB8AC3E}">
        <p14:creationId xmlns:p14="http://schemas.microsoft.com/office/powerpoint/2010/main" val="1835934119"/>
      </p:ext>
    </p:extLst>
  </p:cSld>
  <p:clrMapOvr>
    <a:masterClrMapping/>
  </p:clrMapOvr>
</p:sld>
</file>

<file path=ppt/theme/theme1.xml><?xml version="1.0" encoding="utf-8"?>
<a:theme xmlns:a="http://schemas.openxmlformats.org/drawingml/2006/main" name="MadridVTI">
  <a:themeElements>
    <a:clrScheme name="AnalogousFromDarkSeedLeftStep">
      <a:dk1>
        <a:srgbClr val="000000"/>
      </a:dk1>
      <a:lt1>
        <a:srgbClr val="FFFFFF"/>
      </a:lt1>
      <a:dk2>
        <a:srgbClr val="412E24"/>
      </a:dk2>
      <a:lt2>
        <a:srgbClr val="E8E2E8"/>
      </a:lt2>
      <a:accent1>
        <a:srgbClr val="47B547"/>
      </a:accent1>
      <a:accent2>
        <a:srgbClr val="6CB13B"/>
      </a:accent2>
      <a:accent3>
        <a:srgbClr val="98A942"/>
      </a:accent3>
      <a:accent4>
        <a:srgbClr val="B1933B"/>
      </a:accent4>
      <a:accent5>
        <a:srgbClr val="C3744D"/>
      </a:accent5>
      <a:accent6>
        <a:srgbClr val="B13B45"/>
      </a:accent6>
      <a:hlink>
        <a:srgbClr val="AF743A"/>
      </a:hlink>
      <a:folHlink>
        <a:srgbClr val="7F7F7F"/>
      </a:folHlink>
    </a:clrScheme>
    <a:fontScheme name="Madrid">
      <a:majorFont>
        <a:latin typeface="Seaford Display"/>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dridVTI" id="{5F675924-ADDD-6B4C-A2D4-69150D1F0C16}" vid="{BEA84270-19BD-7342-8ABF-EFF1668AF117}"/>
    </a:ext>
  </a:extLst>
</a:theme>
</file>

<file path=docProps/app.xml><?xml version="1.0" encoding="utf-8"?>
<Properties xmlns="http://schemas.openxmlformats.org/officeDocument/2006/extended-properties" xmlns:vt="http://schemas.openxmlformats.org/officeDocument/2006/docPropsVTypes">
  <TotalTime>146</TotalTime>
  <Words>717</Words>
  <Application>Microsoft Office PowerPoint</Application>
  <PresentationFormat>Widescreen</PresentationFormat>
  <Paragraphs>78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Seaford Display</vt:lpstr>
      <vt:lpstr>System Font Regular</vt:lpstr>
      <vt:lpstr>Tenorite</vt:lpstr>
      <vt:lpstr>MadridVTI</vt:lpstr>
      <vt:lpstr>Keneilwe Patra Chabalala Software Development Student Intern keneilwechabalala22@gmail.com 0737625198</vt:lpstr>
      <vt:lpstr>Project Overview</vt:lpstr>
      <vt:lpstr>Field of Business: E-commerce (specifically targeting small-to-medium retailers).</vt:lpstr>
      <vt:lpstr>Business Environment:</vt:lpstr>
      <vt:lpstr>Domain Analysis</vt:lpstr>
      <vt:lpstr>Define the Problem</vt:lpstr>
      <vt:lpstr>Define the Scope</vt:lpstr>
      <vt:lpstr>Vision and Objectives</vt:lpstr>
      <vt:lpstr>Users of the System</vt:lpstr>
      <vt:lpstr>Mandatory Functions</vt:lpstr>
      <vt:lpstr>Functional Requirements</vt:lpstr>
      <vt:lpstr>Non-functional Requirements</vt:lpstr>
      <vt:lpstr>Use Case</vt:lpstr>
      <vt:lpstr>Technologies Used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 Chabalala</dc:creator>
  <cp:lastModifiedBy>K Chabalala</cp:lastModifiedBy>
  <cp:revision>2</cp:revision>
  <dcterms:created xsi:type="dcterms:W3CDTF">2024-10-24T16:21:42Z</dcterms:created>
  <dcterms:modified xsi:type="dcterms:W3CDTF">2025-01-30T13:59:17Z</dcterms:modified>
</cp:coreProperties>
</file>